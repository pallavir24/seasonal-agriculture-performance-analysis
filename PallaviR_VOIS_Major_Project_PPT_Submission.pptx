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0"/>
  </p:notesMasterIdLst>
  <p:handoutMasterIdLst>
    <p:handoutMasterId r:id="rId21"/>
  </p:handoutMasterIdLst>
  <p:sldIdLst>
    <p:sldId id="338" r:id="rId5"/>
    <p:sldId id="327" r:id="rId6"/>
    <p:sldId id="315" r:id="rId7"/>
    <p:sldId id="329" r:id="rId8"/>
    <p:sldId id="302" r:id="rId9"/>
    <p:sldId id="340" r:id="rId10"/>
    <p:sldId id="344" r:id="rId11"/>
    <p:sldId id="345" r:id="rId12"/>
    <p:sldId id="346" r:id="rId13"/>
    <p:sldId id="339" r:id="rId14"/>
    <p:sldId id="347" r:id="rId15"/>
    <p:sldId id="341" r:id="rId16"/>
    <p:sldId id="342" r:id="rId17"/>
    <p:sldId id="34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3771" y="3588198"/>
            <a:ext cx="4893313" cy="86149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lvl="0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Student Name: Pallavi R</a:t>
            </a:r>
          </a:p>
          <a:p>
            <a:pPr lvl="0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College Name: Maharani Lakshmi Ammanni College For Women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0" y="2844750"/>
            <a:ext cx="9946433" cy="584250"/>
          </a:xfrm>
        </p:spPr>
        <p:txBody>
          <a:bodyPr>
            <a:noAutofit/>
          </a:bodyPr>
          <a:lstStyle/>
          <a:p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Title - </a:t>
            </a:r>
            <a: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Seasonal Agriculture Performance Analysis</a:t>
            </a:r>
            <a:br>
              <a:rPr lang="en-IN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783770" y="4546812"/>
            <a:ext cx="5784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IN" dirty="0"/>
              <a:t>STU68c6922c476671757844012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2155371"/>
            <a:ext cx="7148427" cy="41522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IN" dirty="0">
                <a:latin typeface="Aptos" panose="020B0004020202020204" pitchFamily="34" charset="0"/>
              </a:rPr>
              <a:t>Agricultural activities are influenced by seasonal variations in environmental conditions, farming practices, resource availability, and market conditions. As a result, agricultural performance may differ from one season to another.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IN" dirty="0">
                <a:latin typeface="Aptos" panose="020B0004020202020204" pitchFamily="34" charset="0"/>
              </a:rPr>
              <a:t>However, raw agricultural data does not clearly explain how agricultural performance changes across seasons or what patterns can be observed in different seasonal conditions.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IN" dirty="0">
                <a:latin typeface="Aptos" panose="020B0004020202020204" pitchFamily="34" charset="0"/>
              </a:rPr>
              <a:t>The problem is to </a:t>
            </a:r>
            <a:r>
              <a:rPr lang="en-IN" dirty="0" err="1">
                <a:latin typeface="Aptos" panose="020B0004020202020204" pitchFamily="34" charset="0"/>
              </a:rPr>
              <a:t>analyze</a:t>
            </a:r>
            <a:r>
              <a:rPr lang="en-IN" dirty="0">
                <a:latin typeface="Aptos" panose="020B0004020202020204" pitchFamily="34" charset="0"/>
              </a:rPr>
              <a:t> the given agricultural dataset and investigate seasonal differences in agricultural performance by identifying meaningful patterns, trends, relationships, and variations within the available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b="0" dirty="0">
                <a:ea typeface="ADLaM Display" panose="02010000000000000000" pitchFamily="2" charset="0"/>
                <a:cs typeface="ADLaM Display" panose="02010000000000000000" pitchFamily="2" charset="0"/>
              </a:rPr>
              <a:t>PROBLEM  STATEMENT</a:t>
            </a:r>
            <a:endParaRPr lang="en-IN" b="0" dirty="0"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b="0" dirty="0">
                <a:ea typeface="ADLaM Display" panose="02010000000000000000" pitchFamily="2" charset="0"/>
                <a:cs typeface="ADLaM Display" panose="02010000000000000000" pitchFamily="2" charset="0"/>
              </a:rPr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7CF878-75D9-BA14-BA98-380A6B105CAA}"/>
              </a:ext>
            </a:extLst>
          </p:cNvPr>
          <p:cNvSpPr txBox="1"/>
          <p:nvPr/>
        </p:nvSpPr>
        <p:spPr>
          <a:xfrm>
            <a:off x="710362" y="2015411"/>
            <a:ext cx="802309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Aptos" panose="020B0004020202020204" pitchFamily="34" charset="0"/>
              </a:rPr>
              <a:t>This project conducts exploratory and inferential data analytics on a 4,000-record agricultural dataset across Kharif, Rabi, and Zaid seasons. The scope covers end-to-end data processing:</a:t>
            </a:r>
          </a:p>
          <a:p>
            <a:pPr algn="just"/>
            <a:endParaRPr lang="en-IN" sz="2000" dirty="0">
              <a:latin typeface="Aptos" panose="020B0004020202020204" pitchFamily="34" charset="0"/>
            </a:endParaRPr>
          </a:p>
          <a:p>
            <a:pPr marL="342900" lvl="0" indent="-342900" algn="just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Data Cleaning and Imputation:</a:t>
            </a:r>
            <a:r>
              <a:rPr lang="en-IN" sz="2000" dirty="0">
                <a:latin typeface="Aptos" panose="020B0004020202020204" pitchFamily="34" charset="0"/>
              </a:rPr>
              <a:t> Handled missing values in environmental/yield parameters (</a:t>
            </a:r>
            <a:r>
              <a:rPr lang="en-IN" sz="2000" dirty="0" err="1">
                <a:latin typeface="Aptos" panose="020B0004020202020204" pitchFamily="34" charset="0"/>
              </a:rPr>
              <a:t>Rainfall_mm</a:t>
            </a:r>
            <a:r>
              <a:rPr lang="en-IN" sz="2000" dirty="0">
                <a:latin typeface="Aptos" panose="020B0004020202020204" pitchFamily="34" charset="0"/>
              </a:rPr>
              <a:t>, </a:t>
            </a:r>
            <a:r>
              <a:rPr lang="en-IN" sz="2000" dirty="0" err="1">
                <a:latin typeface="Aptos" panose="020B0004020202020204" pitchFamily="34" charset="0"/>
              </a:rPr>
              <a:t>Soil_Moisture_pct</a:t>
            </a:r>
            <a:r>
              <a:rPr lang="en-IN" sz="2000" dirty="0">
                <a:latin typeface="Aptos" panose="020B0004020202020204" pitchFamily="34" charset="0"/>
              </a:rPr>
              <a:t>, </a:t>
            </a:r>
            <a:r>
              <a:rPr lang="en-IN" sz="2000" dirty="0" err="1">
                <a:latin typeface="Aptos" panose="020B0004020202020204" pitchFamily="34" charset="0"/>
              </a:rPr>
              <a:t>Yield_Tonnes_Ha</a:t>
            </a:r>
            <a:r>
              <a:rPr lang="en-IN" sz="2000" dirty="0">
                <a:latin typeface="Aptos" panose="020B0004020202020204" pitchFamily="34" charset="0"/>
              </a:rPr>
              <a:t>) using </a:t>
            </a:r>
            <a:r>
              <a:rPr lang="en-IN" sz="2000" dirty="0" err="1">
                <a:latin typeface="Aptos" panose="020B0004020202020204" pitchFamily="34" charset="0"/>
              </a:rPr>
              <a:t>KNNImputer</a:t>
            </a:r>
            <a:r>
              <a:rPr lang="en-IN" sz="2000" dirty="0">
                <a:latin typeface="Aptos" panose="020B0004020202020204" pitchFamily="34" charset="0"/>
              </a:rPr>
              <a:t> (k=5).</a:t>
            </a:r>
            <a:endParaRPr lang="en-IN" dirty="0">
              <a:latin typeface="Aptos" panose="020B0004020202020204" pitchFamily="34" charset="0"/>
            </a:endParaRPr>
          </a:p>
          <a:p>
            <a:pPr marL="342900" lvl="0" indent="-342900" algn="just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Exploratory and Comparative Analysis:</a:t>
            </a:r>
            <a:r>
              <a:rPr lang="en-IN" sz="2000" dirty="0">
                <a:latin typeface="Aptos" panose="020B0004020202020204" pitchFamily="34" charset="0"/>
              </a:rPr>
              <a:t> </a:t>
            </a:r>
            <a:r>
              <a:rPr lang="en-IN" sz="2000" dirty="0" err="1">
                <a:latin typeface="Aptos" panose="020B0004020202020204" pitchFamily="34" charset="0"/>
              </a:rPr>
              <a:t>Analyzed</a:t>
            </a:r>
            <a:r>
              <a:rPr lang="en-IN" sz="2000" dirty="0">
                <a:latin typeface="Aptos" panose="020B0004020202020204" pitchFamily="34" charset="0"/>
              </a:rPr>
              <a:t> statistical distributions, univariate balance across seasons, and bivariate relationships between seasonal climate factors and profit returns.</a:t>
            </a:r>
          </a:p>
          <a:p>
            <a:pPr marL="342900" lvl="0" indent="-342900" algn="just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Multivariate and Efficiency </a:t>
            </a:r>
            <a:r>
              <a:rPr lang="en-IN" sz="2000" b="1" dirty="0" err="1">
                <a:latin typeface="Aptos" panose="020B0004020202020204" pitchFamily="34" charset="0"/>
              </a:rPr>
              <a:t>Modeling</a:t>
            </a:r>
            <a:r>
              <a:rPr lang="en-IN" sz="2000" b="1" dirty="0">
                <a:latin typeface="Aptos" panose="020B0004020202020204" pitchFamily="34" charset="0"/>
              </a:rPr>
              <a:t>:</a:t>
            </a:r>
            <a:r>
              <a:rPr lang="en-IN" sz="2000" dirty="0">
                <a:latin typeface="Aptos" panose="020B0004020202020204" pitchFamily="34" charset="0"/>
              </a:rPr>
              <a:t> Evaluated crop-specific seasonal yields, resource efficiency across irrigation types (Flood, Drip, Sprinkler), and crop resilience under disease/pest risks.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2118049"/>
            <a:ext cx="7508241" cy="3219061"/>
          </a:xfrm>
        </p:spPr>
        <p:txBody>
          <a:bodyPr>
            <a:normAutofit/>
          </a:bodyPr>
          <a:lstStyle/>
          <a:p>
            <a:pPr lvl="0" algn="just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Agricultural Policy Makers &amp; Extension Officers: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To design evidence-based, region-specific crop guidelines and optimize resource planning.</a:t>
            </a:r>
          </a:p>
          <a:p>
            <a:pPr lvl="0" algn="just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Farmers &amp; Local Cooperatives: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To guide season-appropriate crop selection, adoption of modern micro-irrigation systems, and input planning (seed quality selection).</a:t>
            </a:r>
          </a:p>
          <a:p>
            <a:pPr lvl="0" algn="just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Agri-Business Stakeholders &amp; Analysts: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To anticipate seasonal supply/yield variations, manage supply chain logistics, and optimize market pricing strategies.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46244" y="1432560"/>
            <a:ext cx="7972075" cy="3010024"/>
          </a:xfrm>
        </p:spPr>
        <p:txBody>
          <a:bodyPr/>
          <a:lstStyle/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Programming Language: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Python 3.x</a:t>
            </a:r>
          </a:p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Data Manipulation &amp; Processing: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Pandas, NumPy</a:t>
            </a:r>
          </a:p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Data Visualization: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Matplotlib, Seaborn</a:t>
            </a:r>
          </a:p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Data Imputation &amp; Preprocessing: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Scikit-learn (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KNNImputer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)</a:t>
            </a:r>
          </a:p>
          <a:p>
            <a:pPr lvl="0"/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Development Environment: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Google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Colab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</a:t>
            </a:r>
          </a:p>
          <a:p>
            <a:pPr lvl="1">
              <a:lnSpc>
                <a:spcPct val="150000"/>
              </a:lnSpc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9682CE-E87F-C8E2-20DE-EFD44D74D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101584"/>
            <a:ext cx="6763694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90"/>
            <a:ext cx="2981643" cy="597626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00063F-C129-B423-970C-70B9B4B50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054359"/>
            <a:ext cx="5808819" cy="561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6FCA17-664A-F0C9-C2B2-1DA8757D1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64" y="1174717"/>
            <a:ext cx="6256109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63AFC9-89B9-2502-468D-1E0304045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91" y="1092057"/>
            <a:ext cx="6115904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C01C25-9858-7487-97E0-DA7B7C9C2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31" y="1162193"/>
            <a:ext cx="9605699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B02B8-C821-1D8D-C4FE-1E7E72DD7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C7EA36-81B4-AA6F-81D6-F87F637CA7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4AA6BEB-7F16-9138-372F-33653C70F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84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8E76A97-BFF4-232E-69D8-71477A7F6E3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54C005C4-AF5A-B475-4E6F-267B1616F5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92FBF25-1BC0-08A7-5E82-8B6937D8E6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1C869-5435-9723-8EEA-3173C4720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01586"/>
            <a:ext cx="8063943" cy="550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057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08" y="678244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F2E29-A62B-61CE-109A-469C6DCFD9CF}"/>
              </a:ext>
            </a:extLst>
          </p:cNvPr>
          <p:cNvSpPr txBox="1"/>
          <p:nvPr/>
        </p:nvSpPr>
        <p:spPr>
          <a:xfrm>
            <a:off x="675956" y="2015234"/>
            <a:ext cx="773092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Predictive Yield &amp; Profit </a:t>
            </a:r>
            <a:r>
              <a:rPr lang="en-IN" sz="2000" b="1" dirty="0" err="1">
                <a:latin typeface="Aptos" panose="020B0004020202020204" pitchFamily="34" charset="0"/>
              </a:rPr>
              <a:t>Modeling</a:t>
            </a:r>
            <a:r>
              <a:rPr lang="en-IN" sz="2000" b="1" dirty="0">
                <a:latin typeface="Aptos" panose="020B0004020202020204" pitchFamily="34" charset="0"/>
              </a:rPr>
              <a:t>:</a:t>
            </a:r>
            <a:r>
              <a:rPr lang="en-IN" sz="2000" dirty="0">
                <a:latin typeface="Aptos" panose="020B0004020202020204" pitchFamily="34" charset="0"/>
              </a:rPr>
              <a:t> Integrating Machine Learning algorithms (e.g., Random Forest, </a:t>
            </a:r>
            <a:r>
              <a:rPr lang="en-IN" sz="2000" dirty="0" err="1">
                <a:latin typeface="Aptos" panose="020B0004020202020204" pitchFamily="34" charset="0"/>
              </a:rPr>
              <a:t>XGBoost</a:t>
            </a:r>
            <a:r>
              <a:rPr lang="en-IN" sz="2000" dirty="0">
                <a:latin typeface="Aptos" panose="020B0004020202020204" pitchFamily="34" charset="0"/>
              </a:rPr>
              <a:t>) to forecast seasonal yields and optimal crop market pricing.</a:t>
            </a:r>
          </a:p>
          <a:p>
            <a:pPr marL="342900" lvl="0" indent="-342900" algn="just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Real-Time Climate &amp; Remote Sensing Integration:</a:t>
            </a:r>
            <a:r>
              <a:rPr lang="en-IN" sz="2000" dirty="0">
                <a:latin typeface="Aptos" panose="020B0004020202020204" pitchFamily="34" charset="0"/>
              </a:rPr>
              <a:t> Incorporating live satellite weather feeds and soil sensor data to dynamically adjust seasonal irrigation schedules and pest risk alerts.</a:t>
            </a:r>
          </a:p>
          <a:p>
            <a:pPr marL="342900" lvl="0" indent="-342900" algn="just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Policy &amp; Subsidy Optimization Engine:</a:t>
            </a:r>
            <a:r>
              <a:rPr lang="en-IN" sz="2000" dirty="0">
                <a:latin typeface="Aptos" panose="020B0004020202020204" pitchFamily="34" charset="0"/>
              </a:rPr>
              <a:t> Developing a decision-support model to evaluate government subsidy allocation (e.g., micro-irrigation grants, seed distribution) and simulate its direct impact on regional farm profitability.</a:t>
            </a:r>
          </a:p>
          <a:p>
            <a:pPr marL="342900" lvl="0" indent="-342900" algn="just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Interactive Stakeholder Dashboards:</a:t>
            </a:r>
            <a:r>
              <a:rPr lang="en-IN" sz="2000" dirty="0">
                <a:latin typeface="Aptos" panose="020B0004020202020204" pitchFamily="34" charset="0"/>
              </a:rPr>
              <a:t> Developing </a:t>
            </a:r>
            <a:r>
              <a:rPr lang="en-IN" sz="2000" dirty="0" err="1">
                <a:latin typeface="Aptos" panose="020B0004020202020204" pitchFamily="34" charset="0"/>
              </a:rPr>
              <a:t>Streamlit</a:t>
            </a:r>
            <a:r>
              <a:rPr lang="en-IN" sz="2000" dirty="0">
                <a:latin typeface="Aptos" panose="020B0004020202020204" pitchFamily="34" charset="0"/>
              </a:rPr>
              <a:t> or </a:t>
            </a:r>
            <a:r>
              <a:rPr lang="en-IN" sz="2000" dirty="0" err="1">
                <a:latin typeface="Aptos" panose="020B0004020202020204" pitchFamily="34" charset="0"/>
              </a:rPr>
              <a:t>PowerBI</a:t>
            </a:r>
            <a:r>
              <a:rPr lang="en-IN" sz="2000" dirty="0">
                <a:latin typeface="Aptos" panose="020B0004020202020204" pitchFamily="34" charset="0"/>
              </a:rPr>
              <a:t> interactive interfaces for real-time scenario planning and decision-making by agricultural officers and local cooperatives.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255" y="777413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b="0" dirty="0">
                <a:ea typeface="ADLaM Display" panose="02010000000000000000" pitchFamily="2" charset="0"/>
                <a:cs typeface="ADLaM Display" panose="02010000000000000000" pitchFamily="2" charset="0"/>
              </a:rPr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4A2EF0-06EE-AB0D-3F97-9F3259FC3B7D}"/>
              </a:ext>
            </a:extLst>
          </p:cNvPr>
          <p:cNvSpPr txBox="1"/>
          <p:nvPr/>
        </p:nvSpPr>
        <p:spPr>
          <a:xfrm>
            <a:off x="797254" y="2106368"/>
            <a:ext cx="73485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https://github.com/pallavir24/Seasonal-Agriculture-Performance-Analysis</a:t>
            </a:r>
            <a:endParaRPr lang="en-IN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b="0" dirty="0">
                <a:ea typeface="ADLaM Display" panose="02010000000000000000" pitchFamily="2" charset="0"/>
                <a:cs typeface="ADLaM Display" panose="02010000000000000000" pitchFamily="2" charset="0"/>
              </a:rPr>
              <a:t>VOIS Course completion certificate - </a:t>
            </a:r>
            <a:br>
              <a:rPr lang="en-IN" sz="3200" b="0" dirty="0"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IN" sz="3200" b="0" dirty="0">
                <a:ea typeface="ADLaM Display" panose="02010000000000000000" pitchFamily="2" charset="0"/>
                <a:cs typeface="ADLaM Display" panose="02010000000000000000" pitchFamily="2" charset="0"/>
              </a:rPr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770FAD-60D7-D27F-894B-26CD62FE0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71" y="1411942"/>
            <a:ext cx="7425086" cy="525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3501" y="2912402"/>
            <a:ext cx="3704253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41405" y="4243552"/>
            <a:ext cx="2139695" cy="110863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 flipV="1">
            <a:off x="11391225" y="3383281"/>
            <a:ext cx="2139696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603</TotalTime>
  <Words>538</Words>
  <Application>Microsoft Office PowerPoint</Application>
  <PresentationFormat>Widescreen</PresentationFormat>
  <Paragraphs>44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ADLaM Display</vt:lpstr>
      <vt:lpstr>Aptos</vt:lpstr>
      <vt:lpstr>Arial</vt:lpstr>
      <vt:lpstr>Calibri</vt:lpstr>
      <vt:lpstr>Courier New</vt:lpstr>
      <vt:lpstr>Trebuchet MS</vt:lpstr>
      <vt:lpstr>Wingdings</vt:lpstr>
      <vt:lpstr>Wingdings 3</vt:lpstr>
      <vt:lpstr>Facet</vt:lpstr>
      <vt:lpstr>Project Title - Seasonal Agriculture Performance Analysis 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Pallavi R</cp:lastModifiedBy>
  <cp:revision>100</cp:revision>
  <dcterms:created xsi:type="dcterms:W3CDTF">2021-07-11T13:13:15Z</dcterms:created>
  <dcterms:modified xsi:type="dcterms:W3CDTF">2026-09-06T12:40:52Z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